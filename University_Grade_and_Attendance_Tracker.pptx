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7750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3840480" cy="3840480"/>
          </a:xfrm>
          <a:prstGeom prst="ellipse">
            <a:avLst/>
          </a:prstGeom>
          <a:solidFill>
            <a:srgbClr val="FCA311">
              <a:alpha val="20000"/>
            </a:srgbClr>
          </a:solidFill>
          <a:ln w="12700">
            <a:solidFill>
              <a:srgbClr val="FCA31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498080" y="3108960"/>
            <a:ext cx="2377440" cy="2377440"/>
          </a:xfrm>
          <a:prstGeom prst="ellipse">
            <a:avLst/>
          </a:prstGeom>
          <a:solidFill>
            <a:srgbClr val="FCA311">
              <a:alpha val="40000"/>
            </a:srgbClr>
          </a:solidFill>
          <a:ln w="12700">
            <a:solidFill>
              <a:srgbClr val="FCA31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3200" b="1"/>
              <a:t>University Grade</a:t>
            </a:r>
            <a:br/>
            <a:r>
              <a:rPr sz="3200" b="1"/>
              <a:t>and Attendance Tracker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/>
              <a:t>Presented by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089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sz="1600" dirty="0"/>
              <a:t>Jasmitha M — 2620040033</a:t>
            </a:r>
            <a:br>
              <a:rPr dirty="0"/>
            </a:br>
            <a:r>
              <a:rPr sz="1600" dirty="0"/>
              <a:t>P. Namratha — 2620030359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Abstract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8463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777240" y="1417320"/>
            <a:ext cx="4389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/>
              <a:t>A Java-based student record system that stores student details, records subject marks and tracks attendance. It calculates total marks, average and attendance percentage, then displays a clear summary to help students and faculty review academic progress.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720" y="1353312"/>
            <a:ext cx="548640" cy="54864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760720" y="1353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3533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/>
              <a:t>Student records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60720" y="2203704"/>
            <a:ext cx="548640" cy="54864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5760720" y="22037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2037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/>
              <a:t>Marks and averages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60720" y="3054096"/>
            <a:ext cx="548640" cy="54864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5760720" y="3054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05409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/>
              <a:t>Attendance percentage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60720" y="3904488"/>
            <a:ext cx="548640" cy="54864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5760720" y="3904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9044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/>
              <a:t>Readable summary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Understanding the Problem Statement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8463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777240" y="1417320"/>
            <a:ext cx="4389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700"/>
              <a:t>Managing marks and attendance manually can take time and lead to calculation mistakes. A simple tracker brings student details, marks and attendance into one place. The program applies consistent calculations and displays the results in a clear format. This project demonstrates how Java can solve a familiar academic problem.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720" y="1353312"/>
            <a:ext cx="548640" cy="54864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760720" y="1353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35331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/>
              <a:t>Records kept together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60720" y="2203704"/>
            <a:ext cx="548640" cy="54864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5760720" y="22037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20370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/>
              <a:t>Fewer calculation errors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760720" y="3054096"/>
            <a:ext cx="548640" cy="54864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5760720" y="3054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05409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/>
              <a:t>Attendance monitored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760720" y="3904488"/>
            <a:ext cx="548640" cy="54864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5760720" y="3904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90448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/>
              <a:t>Quick progress review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/>
              <a:t>CO1 – Java Foundations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31520" y="1316736"/>
            <a:ext cx="493776" cy="493776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731520" y="13167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18872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/>
              <a:t>Program structure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118872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/>
              <a:t>A main() method runs the tracker and controls the sequence of operations.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31520" y="2185416"/>
            <a:ext cx="493776" cy="493776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731520" y="21854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05740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/>
              <a:t>Variables and data types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205740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/>
              <a:t>String stores names and IDs; int stores marks and attendance counts; double stores averages and percentages.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31520" y="3054096"/>
            <a:ext cx="493776" cy="493776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731520" y="3054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29260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/>
              <a:t>Operators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0" y="292608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/>
              <a:t>+ adds marks, / calculates averages, and relational operators compare values.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31520" y="3922776"/>
            <a:ext cx="493776" cy="493776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731520" y="39227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79476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/>
              <a:t>Console input/output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379476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/>
              <a:t>Scanner accepts student details and marks; print statements show the report.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/>
              <a:t>CO2 – Selection and Iteration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31520" y="1316736"/>
            <a:ext cx="493776" cy="493776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731520" y="13167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18872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/>
              <a:t>if / else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118872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/>
              <a:t>Check whether marks or attendance values are within valid ranges.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31520" y="2185416"/>
            <a:ext cx="493776" cy="493776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731520" y="21854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05740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/>
              <a:t>Menu selection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205740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/>
              <a:t>switch can let the user choose add student, enter marks, view report or exit.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31520" y="3054096"/>
            <a:ext cx="493776" cy="493776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731520" y="3054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29260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/>
              <a:t>Loops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0" y="292608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/>
              <a:t>for loops process subjects; while loops can repeat the menu until the user exits.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31520" y="3922776"/>
            <a:ext cx="493776" cy="493776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731520" y="39227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79476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/>
              <a:t>break and validation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379476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/>
              <a:t>break exits the menu loop; validation prevents invalid entries from being processed.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/>
              <a:t>CO3 – Methods, Recursion and Arrays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31520" y="1316736"/>
            <a:ext cx="493776" cy="493776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731520" y="13167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18872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/>
              <a:t>Reusable methods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118872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/>
              <a:t>Methods such as calculateTotal(), calculateAverage() and attendancePercentage() keep tasks separate.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31520" y="2185416"/>
            <a:ext cx="493776" cy="493776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731520" y="21854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05740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/>
              <a:t>Parameters and returns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205740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/>
              <a:t>Pass marks or attendance counts into methods and return calculated results.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31520" y="3054096"/>
            <a:ext cx="493776" cy="493776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731520" y="3054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29260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/>
              <a:t>Arrays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0" y="292608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/>
              <a:t>A marks array stores multiple subject scores for one student.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31520" y="3922776"/>
            <a:ext cx="493776" cy="493776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731520" y="39227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79476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/>
              <a:t>Array processing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379476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/>
              <a:t>Loops calculate total, average, highest mark and number of subjects.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/>
              <a:t>CO4 – OOP and Exception Handling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31520" y="1316736"/>
            <a:ext cx="493776" cy="493776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731520" y="13167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18872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/>
              <a:t>Classes and objects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118872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/>
              <a:t>A Student class represents each student with ID, name, marks and attendance fields.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31520" y="2185416"/>
            <a:ext cx="493776" cy="493776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731520" y="21854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05740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/>
              <a:t>Constructors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205740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/>
              <a:t>A constructor initializes a student's details when an object is created.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31520" y="3054096"/>
            <a:ext cx="493776" cy="493776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731520" y="3054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29260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/>
              <a:t>Encapsulation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0" y="292608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/>
              <a:t>Private fields and public methods help control access to student data.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31520" y="3922776"/>
            <a:ext cx="493776" cy="493776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731520" y="39227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79476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/>
              <a:t>Exception handling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379476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/>
              <a:t>try-catch can handle invalid numeric input and help the program continue safely.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/>
              <a:t>CO5 – Strings, Algorithms and File I/O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31520" y="1316736"/>
            <a:ext cx="493776" cy="493776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731520" y="13167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18872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/>
              <a:t>String processing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118872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/>
              <a:t>trim() removes extra spaces; equals() compares IDs or menu choices.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31520" y="2185416"/>
            <a:ext cx="493776" cy="493776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731520" y="21854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05740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/>
              <a:t>Input validation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205740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/>
              <a:t>Check that student names and IDs are not blank before storing them.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31520" y="3054096"/>
            <a:ext cx="493776" cy="493776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731520" y="3054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29260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/>
              <a:t>Searching and sorting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0" y="292608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/>
              <a:t>Search for a student by ID and sort records by name or marks when required.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31520" y="3922776"/>
            <a:ext cx="493776" cy="493776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731520" y="39227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79476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/>
              <a:t>File handling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379476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/>
              <a:t>Files/Path or buffered readers and writers can save and reload student records.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/>
              <a:t>CO6 – Collections, Lambdas and Streams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31520" y="1316736"/>
            <a:ext cx="493776" cy="493776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731520" y="13167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18872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/>
              <a:t>Collections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118872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/>
              <a:t>ArrayList can store a flexible list of student records.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31520" y="2185416"/>
            <a:ext cx="493776" cy="493776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731520" y="21854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05740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/>
              <a:t>Maps and generics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205740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/>
              <a:t>HashMap&lt;String, Student&gt; can find a student quickly using their ID.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31520" y="3054096"/>
            <a:ext cx="493776" cy="493776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731520" y="3054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29260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/>
              <a:t>Lambdas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0" y="292608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/>
              <a:t>A Comparator lambda can define how student records should be sorted.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31520" y="3922776"/>
            <a:ext cx="493776" cy="493776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731520" y="39227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79476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/>
              <a:t>Streams and reports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379476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/>
              <a:t>filter() can find low-attendance students; map() and average() can summarize marks.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600" b="1"/>
              <a:t>Conclusion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500"/>
              <a:t>The University Grade and Attendance Tracker applies core Java concepts to a practical academic task. It organizes student information, processes marks and attendance, and presents useful summaries.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548640" cy="54864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73152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031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/>
              <a:t>Organized</a:t>
            </a:r>
            <a:br/>
            <a:r>
              <a:rPr sz="1300"/>
              <a:t>Student details, marks and attendance are grouped into a single record.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3440" y="201168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846320" y="2331720"/>
            <a:ext cx="548640" cy="54864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484632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21031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/>
              <a:t>Consistent</a:t>
            </a:r>
            <a:br/>
            <a:r>
              <a:rPr sz="1300"/>
              <a:t>Methods apply the same calculations to every student.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31520" y="3703320"/>
            <a:ext cx="548640" cy="54864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73152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4747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/>
              <a:t>Useful</a:t>
            </a:r>
            <a:br/>
            <a:r>
              <a:rPr sz="1300"/>
              <a:t>Reports make averages and attendance percentages easier to review.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63440" y="338328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846320" y="3703320"/>
            <a:ext cx="548640" cy="54864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484632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34747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/>
              <a:t>Expandable</a:t>
            </a:r>
            <a:br/>
            <a:r>
              <a:rPr sz="1300"/>
              <a:t>File storage and collections can support more records in future.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600" b="1"/>
              <a:t>Sample Console Output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80467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9CA3AF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31520" y="1234440"/>
            <a:ext cx="7680960" cy="3246120"/>
          </a:xfrm>
          <a:prstGeom prst="roundRect">
            <a:avLst/>
          </a:prstGeom>
          <a:solidFill>
            <a:srgbClr val="192330"/>
          </a:solidFill>
          <a:ln>
            <a:solidFill>
              <a:srgbClr val="3C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6032" tIns="201168" rtlCol="0" anchor="ctr"/>
          <a:lstStyle/>
          <a:p>
            <a:pPr algn="ctr">
              <a:spcAft>
                <a:spcPts val="400"/>
              </a:spcAft>
              <a:defRPr sz="1500">
                <a:solidFill>
                  <a:srgbClr val="E1F0FA"/>
                </a:solidFill>
                <a:latin typeface="Consolas"/>
              </a:defRPr>
            </a:pPr>
            <a:r>
              <a:rPr dirty="0"/>
              <a:t>UNIVERSITY GRADE &amp; ATTENDANCE TRACKER</a:t>
            </a:r>
          </a:p>
          <a:p>
            <a:pPr>
              <a:spcAft>
                <a:spcPts val="400"/>
              </a:spcAft>
              <a:defRPr sz="1200">
                <a:solidFill>
                  <a:srgbClr val="E1F0FA"/>
                </a:solidFill>
                <a:latin typeface="Consolas"/>
              </a:defRPr>
            </a:pPr>
            <a:r>
              <a:rPr dirty="0"/>
              <a:t>--------------------------------------</a:t>
            </a:r>
          </a:p>
          <a:p>
            <a:pPr>
              <a:spcAft>
                <a:spcPts val="400"/>
              </a:spcAft>
              <a:defRPr sz="1200">
                <a:solidFill>
                  <a:srgbClr val="E1F0FA"/>
                </a:solidFill>
                <a:latin typeface="Consolas"/>
              </a:defRPr>
            </a:pPr>
            <a:r>
              <a:rPr dirty="0"/>
              <a:t>Student ID : </a:t>
            </a:r>
            <a:r>
              <a:rPr lang="en-IN" dirty="0"/>
              <a:t>143</a:t>
            </a:r>
            <a:endParaRPr dirty="0"/>
          </a:p>
          <a:p>
            <a:pPr>
              <a:spcAft>
                <a:spcPts val="400"/>
              </a:spcAft>
              <a:defRPr sz="1200">
                <a:solidFill>
                  <a:srgbClr val="E1F0FA"/>
                </a:solidFill>
                <a:latin typeface="Consolas"/>
              </a:defRPr>
            </a:pPr>
            <a:r>
              <a:rPr dirty="0"/>
              <a:t>Name       : </a:t>
            </a:r>
            <a:r>
              <a:rPr lang="en-IN" dirty="0"/>
              <a:t>Anvitha</a:t>
            </a:r>
            <a:endParaRPr dirty="0"/>
          </a:p>
          <a:p>
            <a:pPr>
              <a:spcAft>
                <a:spcPts val="400"/>
              </a:spcAft>
              <a:defRPr sz="1200">
                <a:solidFill>
                  <a:srgbClr val="E1F0FA"/>
                </a:solidFill>
                <a:latin typeface="Consolas"/>
              </a:defRPr>
            </a:pPr>
            <a:r>
              <a:rPr dirty="0"/>
              <a:t>Marks      : Java 86 | </a:t>
            </a:r>
            <a:r>
              <a:rPr dirty="0" err="1"/>
              <a:t>Maths</a:t>
            </a:r>
            <a:r>
              <a:rPr dirty="0"/>
              <a:t> 91 | DDCA 88</a:t>
            </a:r>
          </a:p>
          <a:p>
            <a:pPr>
              <a:spcAft>
                <a:spcPts val="400"/>
              </a:spcAft>
              <a:defRPr sz="1200">
                <a:solidFill>
                  <a:srgbClr val="E1F0FA"/>
                </a:solidFill>
                <a:latin typeface="Consolas"/>
              </a:defRPr>
            </a:pPr>
            <a:r>
              <a:rPr dirty="0"/>
              <a:t>Total      : 265 / 300</a:t>
            </a:r>
          </a:p>
          <a:p>
            <a:pPr>
              <a:spcAft>
                <a:spcPts val="400"/>
              </a:spcAft>
              <a:defRPr sz="1200">
                <a:solidFill>
                  <a:srgbClr val="E1F0FA"/>
                </a:solidFill>
                <a:latin typeface="Consolas"/>
              </a:defRPr>
            </a:pPr>
            <a:r>
              <a:rPr dirty="0"/>
              <a:t>Average    : 88.33%</a:t>
            </a:r>
          </a:p>
          <a:p>
            <a:pPr>
              <a:spcAft>
                <a:spcPts val="400"/>
              </a:spcAft>
              <a:defRPr sz="1200">
                <a:solidFill>
                  <a:srgbClr val="E1F0FA"/>
                </a:solidFill>
                <a:latin typeface="Consolas"/>
              </a:defRPr>
            </a:pPr>
            <a:r>
              <a:rPr dirty="0"/>
              <a:t>Attendance : 42 / 48 classes = 87.50%</a:t>
            </a:r>
          </a:p>
          <a:p>
            <a:pPr>
              <a:spcAft>
                <a:spcPts val="400"/>
              </a:spcAft>
              <a:defRPr sz="1200">
                <a:solidFill>
                  <a:srgbClr val="E1F0FA"/>
                </a:solidFill>
                <a:latin typeface="Consolas"/>
              </a:defRPr>
            </a:pPr>
            <a:r>
              <a:rPr dirty="0"/>
              <a:t>Status     : Attendance above 75%</a:t>
            </a:r>
          </a:p>
          <a:p>
            <a:pPr>
              <a:spcAft>
                <a:spcPts val="400"/>
              </a:spcAft>
              <a:defRPr sz="1200">
                <a:solidFill>
                  <a:srgbClr val="E1F0FA"/>
                </a:solidFill>
                <a:latin typeface="Consolas"/>
              </a:defRPr>
            </a:pPr>
            <a:r>
              <a:rPr dirty="0"/>
              <a:t>--------------------------------------</a:t>
            </a:r>
          </a:p>
          <a:p>
            <a:pPr>
              <a:spcAft>
                <a:spcPts val="400"/>
              </a:spcAft>
              <a:defRPr sz="1200">
                <a:solidFill>
                  <a:srgbClr val="E1F0FA"/>
                </a:solidFill>
                <a:latin typeface="Consolas"/>
              </a:defRPr>
            </a:pPr>
            <a:r>
              <a:rPr dirty="0"/>
              <a:t>1. Add Student   2. View Report   3. Exit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572000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6E78"/>
                </a:solidFill>
              </a:defRPr>
            </a:pPr>
            <a:r>
              <a:t>Illustrative output only — sample values show the kind of report the Java program can display.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2837"/>
                </a:solidFill>
              </a:defRPr>
            </a:pPr>
            <a:r>
              <a:t>System Flow and Key Calculations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1600200"/>
            <a:ext cx="1371600" cy="1005840"/>
          </a:xfrm>
          <a:prstGeom prst="roundRect">
            <a:avLst/>
          </a:prstGeom>
          <a:solidFill>
            <a:srgbClr val="24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Enter student details</a:t>
            </a:r>
          </a:p>
        </p:txBody>
      </p:sp>
      <p:sp>
        <p:nvSpPr>
          <p:cNvPr id="28" name="Chevron 27"/>
          <p:cNvSpPr/>
          <p:nvPr/>
        </p:nvSpPr>
        <p:spPr>
          <a:xfrm>
            <a:off x="1810512" y="1901952"/>
            <a:ext cx="292608" cy="329184"/>
          </a:xfrm>
          <a:prstGeom prst="chevron">
            <a:avLst/>
          </a:prstGeom>
          <a:solidFill>
            <a:srgbClr val="78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148840" y="1600200"/>
            <a:ext cx="1371600" cy="1005840"/>
          </a:xfrm>
          <a:prstGeom prst="roundRect">
            <a:avLst/>
          </a:prstGeom>
          <a:solidFill>
            <a:srgbClr val="315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Record subject marks</a:t>
            </a:r>
          </a:p>
        </p:txBody>
      </p:sp>
      <p:sp>
        <p:nvSpPr>
          <p:cNvPr id="30" name="Chevron 29"/>
          <p:cNvSpPr/>
          <p:nvPr/>
        </p:nvSpPr>
        <p:spPr>
          <a:xfrm>
            <a:off x="3547872" y="1901952"/>
            <a:ext cx="292608" cy="329184"/>
          </a:xfrm>
          <a:prstGeom prst="chevron">
            <a:avLst/>
          </a:prstGeom>
          <a:solidFill>
            <a:srgbClr val="78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886200" y="1600200"/>
            <a:ext cx="1371600" cy="1005840"/>
          </a:xfrm>
          <a:prstGeom prst="roundRect">
            <a:avLst/>
          </a:prstGeom>
          <a:solidFill>
            <a:srgbClr val="387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Enter classes attended / total classes</a:t>
            </a:r>
          </a:p>
        </p:txBody>
      </p:sp>
      <p:sp>
        <p:nvSpPr>
          <p:cNvPr id="32" name="Chevron 31"/>
          <p:cNvSpPr/>
          <p:nvPr/>
        </p:nvSpPr>
        <p:spPr>
          <a:xfrm>
            <a:off x="5285232" y="1901952"/>
            <a:ext cx="292608" cy="329184"/>
          </a:xfrm>
          <a:prstGeom prst="chevron">
            <a:avLst/>
          </a:prstGeom>
          <a:solidFill>
            <a:srgbClr val="78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623560" y="1600200"/>
            <a:ext cx="1371600" cy="1005840"/>
          </a:xfrm>
          <a:prstGeom prst="roundRect">
            <a:avLst/>
          </a:prstGeom>
          <a:solidFill>
            <a:srgbClr val="2E7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Calculate total, average and attendance %</a:t>
            </a:r>
          </a:p>
        </p:txBody>
      </p:sp>
      <p:sp>
        <p:nvSpPr>
          <p:cNvPr id="34" name="Chevron 33"/>
          <p:cNvSpPr/>
          <p:nvPr/>
        </p:nvSpPr>
        <p:spPr>
          <a:xfrm>
            <a:off x="7022592" y="1901952"/>
            <a:ext cx="292608" cy="329184"/>
          </a:xfrm>
          <a:prstGeom prst="chevron">
            <a:avLst/>
          </a:prstGeom>
          <a:solidFill>
            <a:srgbClr val="78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360920" y="1600200"/>
            <a:ext cx="1371600" cy="1005840"/>
          </a:xfrm>
          <a:prstGeom prst="roundRect">
            <a:avLst/>
          </a:prstGeom>
          <a:solidFill>
            <a:srgbClr val="2E6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Display student 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3154680"/>
            <a:ext cx="7498079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1"/>
                </a:solidFill>
              </a:defRPr>
            </a:pPr>
            <a:r>
              <a:t>• Total Marks = Sum of all subject marks</a:t>
            </a:r>
          </a:p>
          <a:p>
            <a:pPr>
              <a:spcAft>
                <a:spcPts val="800"/>
              </a:spcAft>
              <a:defRPr sz="1400">
                <a:solidFill>
                  <a:srgbClr val="2D3741"/>
                </a:solidFill>
              </a:defRPr>
            </a:pPr>
            <a:r>
              <a:t>• Average = Total Marks ÷ Number of Subjects</a:t>
            </a:r>
          </a:p>
          <a:p>
            <a:pPr>
              <a:spcAft>
                <a:spcPts val="800"/>
              </a:spcAft>
              <a:defRPr sz="1400">
                <a:solidFill>
                  <a:srgbClr val="2D3741"/>
                </a:solidFill>
              </a:defRPr>
            </a:pPr>
            <a:r>
              <a:t>• Attendance % = (Classes Attended ÷ Total Classes) × 100</a:t>
            </a:r>
          </a:p>
          <a:p>
            <a:pPr>
              <a:spcAft>
                <a:spcPts val="800"/>
              </a:spcAft>
              <a:defRPr sz="1400">
                <a:solidFill>
                  <a:srgbClr val="2D3741"/>
                </a:solidFill>
              </a:defRPr>
            </a:pPr>
            <a:r>
              <a:t>• Suggested rule: flag attendance below the institution's required threshold.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926080"/>
            <a:ext cx="3291840" cy="3291840"/>
          </a:xfrm>
          <a:prstGeom prst="ellipse">
            <a:avLst/>
          </a:prstGeom>
          <a:solidFill>
            <a:srgbClr val="FCA311">
              <a:alpha val="20000"/>
            </a:srgbClr>
          </a:solidFill>
          <a:ln w="12700">
            <a:solidFill>
              <a:srgbClr val="FCA31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6949440" y="-731520"/>
            <a:ext cx="2560320" cy="2560320"/>
          </a:xfrm>
          <a:prstGeom prst="ellipse">
            <a:avLst/>
          </a:prstGeom>
          <a:solidFill>
            <a:srgbClr val="FCA311">
              <a:alpha val="40000"/>
            </a:srgbClr>
          </a:solidFill>
          <a:ln w="12700">
            <a:solidFill>
              <a:srgbClr val="FCA31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3800" b="1"/>
              <a:t>Thank You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000"/>
              <a:t>Questions are welcome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863</Words>
  <Application>Microsoft Office PowerPoint</Application>
  <PresentationFormat>On-screen Show (16:9)</PresentationFormat>
  <Paragraphs>165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Council Election Tally System</dc:title>
  <dc:subject>PptxGenJS Presentation</dc:subject>
  <dc:creator>PptxGenJS</dc:creator>
  <cp:lastModifiedBy>Jasmitha Mukkapati</cp:lastModifiedBy>
  <cp:revision>2</cp:revision>
  <dcterms:created xsi:type="dcterms:W3CDTF">2026-10-15T17:18:20Z</dcterms:created>
  <dcterms:modified xsi:type="dcterms:W3CDTF">2026-10-16T07:59:09Z</dcterms:modified>
</cp:coreProperties>
</file>