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1783080"/>
            <a:ext cx="7635240" cy="43434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1080" y="1828800"/>
            <a:ext cx="2971800" cy="41148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708660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0">
                <a:solidFill>
                  <a:srgbClr val="113740"/>
                </a:solidFill>
                <a:latin typeface="Aptos"/>
              </a:defRPr>
            </a:pPr>
            <a:r>
              <a:t>The University Grade &amp; Attendance Tracker is a simple Java console program for managing basic student academic information.</a:t>
            </a:r>
            <a:br/>
            <a:br/>
            <a:r>
              <a:t>The program accepts student details, marks in three subjects, and attendance data. It validates the entered values, calculates total marks and average, assigns a grade, and calculates attendance percentage.</a:t>
            </a:r>
            <a:br/>
            <a:br/>
            <a:r>
              <a:t>The project demonstrates core Java programming concepts such as variables, primitive data types, String input, Scanner, arithmetic expressions, comparison operators, logical operators, and if–else decision 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2057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26A56"/>
                </a:solidFill>
                <a:latin typeface="Aptos"/>
              </a:defRPr>
            </a:pPr>
            <a:r>
              <a:t>KEYWORDS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8823960" y="2514600"/>
            <a:ext cx="2606040" cy="384048"/>
          </a:xfrm>
          <a:prstGeom prst="rect">
            <a:avLst/>
          </a:prstGeom>
          <a:solidFill>
            <a:srgbClr val="D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79408" y="258775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13740"/>
                </a:solidFill>
                <a:latin typeface="Aptos"/>
              </a:defRPr>
            </a:pPr>
            <a:r>
              <a:t>Core Java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3081528"/>
            <a:ext cx="2606040" cy="384048"/>
          </a:xfrm>
          <a:prstGeom prst="rect">
            <a:avLst/>
          </a:prstGeom>
          <a:solidFill>
            <a:srgbClr val="D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9408" y="315468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13740"/>
                </a:solidFill>
                <a:latin typeface="Aptos"/>
              </a:defRPr>
            </a:pPr>
            <a:r>
              <a:t>Scanner &amp; Console I/O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3648456"/>
            <a:ext cx="2606040" cy="384048"/>
          </a:xfrm>
          <a:prstGeom prst="rect">
            <a:avLst/>
          </a:prstGeom>
          <a:solidFill>
            <a:srgbClr val="D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9408" y="372160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13740"/>
                </a:solidFill>
                <a:latin typeface="Aptos"/>
              </a:defRPr>
            </a:pPr>
            <a:r>
              <a:t>Variables &amp; Data Types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4215383"/>
            <a:ext cx="2606040" cy="384048"/>
          </a:xfrm>
          <a:prstGeom prst="rect">
            <a:avLst/>
          </a:prstGeom>
          <a:solidFill>
            <a:srgbClr val="D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428853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13740"/>
                </a:solidFill>
                <a:latin typeface="Aptos"/>
              </a:defRPr>
            </a:pPr>
            <a:r>
              <a:t>Expressions &amp; Operators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4782312"/>
            <a:ext cx="2606040" cy="384048"/>
          </a:xfrm>
          <a:prstGeom prst="rect">
            <a:avLst/>
          </a:prstGeom>
          <a:solidFill>
            <a:srgbClr val="D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9408" y="485546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13740"/>
                </a:solidFill>
                <a:latin typeface="Aptos"/>
              </a:defRPr>
            </a:pPr>
            <a:r>
              <a:t>if–else &amp;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26280" y="2331720"/>
            <a:ext cx="7040880" cy="333756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17720" y="25146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90288" y="2450592"/>
            <a:ext cx="320040" cy="320040"/>
          </a:xfrm>
          <a:prstGeom prst="rect">
            <a:avLst/>
          </a:prstGeom>
          <a:solidFill>
            <a:srgbClr val="F26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4920" y="23957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13740"/>
                </a:solidFill>
                <a:latin typeface="Aptos"/>
              </a:defRPr>
            </a:pPr>
            <a:r>
              <a:t>Manual record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2761488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113740"/>
                </a:solidFill>
                <a:latin typeface="Aptos"/>
              </a:defRPr>
            </a:pPr>
            <a:r>
              <a:t>Marks and attendance calculations can be done incorrectly when handled manually.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2450592"/>
            <a:ext cx="320040" cy="320040"/>
          </a:xfrm>
          <a:prstGeom prst="rect">
            <a:avLst/>
          </a:prstGeom>
          <a:solidFill>
            <a:srgbClr val="08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46888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3957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13740"/>
                </a:solidFill>
                <a:latin typeface="Aptos"/>
              </a:defRPr>
            </a:pPr>
            <a:r>
              <a:t>Repeated calculations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761488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113740"/>
                </a:solidFill>
                <a:latin typeface="Aptos"/>
              </a:defRPr>
            </a:pPr>
            <a:r>
              <a:t>Total, average, grade and attendance percentage require repeated calculations.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3886200"/>
            <a:ext cx="320040" cy="320040"/>
          </a:xfrm>
          <a:prstGeom prst="rect">
            <a:avLst/>
          </a:prstGeom>
          <a:solidFill>
            <a:srgbClr val="08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904487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82219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13740"/>
                </a:solidFill>
                <a:latin typeface="Aptos"/>
              </a:defRPr>
            </a:pPr>
            <a:r>
              <a:t>Validation is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187952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113740"/>
                </a:solidFill>
                <a:latin typeface="Aptos"/>
              </a:defRPr>
            </a:pPr>
            <a:r>
              <a:t>Invalid marks or attendance values should be detected before calculations.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3886200"/>
            <a:ext cx="320040" cy="320040"/>
          </a:xfrm>
          <a:prstGeom prst="rect">
            <a:avLst/>
          </a:prstGeom>
          <a:solidFill>
            <a:srgbClr val="F26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3904487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822191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13740"/>
                </a:solidFill>
                <a:latin typeface="Aptos"/>
              </a:defRPr>
            </a:pPr>
            <a:r>
              <a:t>Information in one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187952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113740"/>
                </a:solidFill>
                <a:latin typeface="Aptos"/>
              </a:defRPr>
            </a:pPr>
            <a:r>
              <a:t>The program collects student, marks and attendance information through one console flow.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148840"/>
            <a:ext cx="7360920" cy="370332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2423160"/>
            <a:ext cx="29718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36592" y="2587752"/>
            <a:ext cx="320040" cy="320040"/>
          </a:xfrm>
          <a:prstGeom prst="rect">
            <a:avLst/>
          </a:prstGeom>
          <a:solidFill>
            <a:srgbClr val="F26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260604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256032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Manual record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292608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Marks and attendance calculations can be incorrect when handled manually.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2423160"/>
            <a:ext cx="29718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82712" y="2587752"/>
            <a:ext cx="320040" cy="320040"/>
          </a:xfrm>
          <a:prstGeom prst="rect">
            <a:avLst/>
          </a:prstGeom>
          <a:solidFill>
            <a:srgbClr val="08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82712" y="260604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256032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Repeated calculations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292608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Total, average, grade and attendance percentage require repeated calculations.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023360"/>
            <a:ext cx="29718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36592" y="4187952"/>
            <a:ext cx="320040" cy="320040"/>
          </a:xfrm>
          <a:prstGeom prst="rect">
            <a:avLst/>
          </a:prstGeom>
          <a:solidFill>
            <a:srgbClr val="08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420624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3792" y="416052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Validation is needed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452628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Invalid marks or attendance values should be detected before calculations.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4023360"/>
            <a:ext cx="29718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82712" y="4187952"/>
            <a:ext cx="320040" cy="320040"/>
          </a:xfrm>
          <a:prstGeom prst="rect">
            <a:avLst/>
          </a:prstGeom>
          <a:solidFill>
            <a:srgbClr val="F26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2712" y="420624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912" y="416052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Information in one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9912" y="452628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The program collects student, marks and attendance information through one console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2148840"/>
            <a:ext cx="11201400" cy="379476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49631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Read student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86207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Accept ID, name and department using Scanner.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33172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249631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Accept 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86207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Take marks for Java, Maths and Digital Logic.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33172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249631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Validate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86207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Check that marks stay between 0 and 100.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233172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9992" y="249631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Calculate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286207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Find total marks and average.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06908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23367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Assign grade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59943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Use if–else conditions to determine the grade.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406908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423367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Track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459943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Calculate attendance percentage and eligibility.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06908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423367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Display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59943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Show the student's academic information clearly.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400" y="406908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23367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Apply Core Java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59943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Demonstrate variables, expressions and decision making.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057400"/>
            <a:ext cx="11384280" cy="416052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233172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249631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Read student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286207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Accept ID, name and department using Scanner.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233172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249631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Accept marks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3592" y="286207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Take marks for Java, Maths and Digital Logic.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233172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49631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Validate 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86207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Check that marks stay between 0 and 100.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15400" y="233172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9992" y="249631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Calculate performance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9992" y="286207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Find total marks and average.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406908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" y="423367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Assign grade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459943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Use if–else conditions to determine the grade.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9000" y="406908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93592" y="423367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Track attendance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3592" y="459943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Calculate attendance percentage and eligibility.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406908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423367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Display result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459943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Show the student's academic information clearly.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15400" y="406908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79992" y="423367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Apply Core Java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9992" y="459943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Demonstrate variables, expressions and decision 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1828800"/>
            <a:ext cx="11384280" cy="4389120"/>
          </a:xfrm>
          <a:prstGeom prst="rect">
            <a:avLst/>
          </a:prstGeom>
          <a:solidFill>
            <a:srgbClr val="08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AC764"/>
                </a:solidFill>
                <a:latin typeface="Aptos"/>
              </a:defRPr>
            </a:pPr>
            <a:r>
              <a:t>PROGRAM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743200"/>
            <a:ext cx="1600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743200"/>
            <a:ext cx="1600200" cy="109728"/>
          </a:xfrm>
          <a:prstGeom prst="rect">
            <a:avLst/>
          </a:prstGeom>
          <a:solidFill>
            <a:srgbClr val="F26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9718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8465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401568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Student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06908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ID, name and department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2743200"/>
            <a:ext cx="1600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23160" y="2743200"/>
            <a:ext cx="1600200" cy="109728"/>
          </a:xfrm>
          <a:prstGeom prst="rect">
            <a:avLst/>
          </a:prstGeom>
          <a:solidFill>
            <a:srgbClr val="FAC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29718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8465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3401568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Marks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406908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Java, Maths and Digital Logic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743200"/>
            <a:ext cx="1600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2743200"/>
            <a:ext cx="1600200" cy="109728"/>
          </a:xfrm>
          <a:prstGeom prst="rect">
            <a:avLst/>
          </a:prstGeom>
          <a:solidFill>
            <a:srgbClr val="F26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29718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8465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401568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Marks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406908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Check 0–100 range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743200"/>
            <a:ext cx="1600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2743200"/>
            <a:ext cx="1600200" cy="109728"/>
          </a:xfrm>
          <a:prstGeom prst="rect">
            <a:avLst/>
          </a:prstGeom>
          <a:solidFill>
            <a:srgbClr val="FAC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29718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8465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401568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Grade Calculation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406908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Total → average → grade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2743200"/>
            <a:ext cx="1600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9560" y="2743200"/>
            <a:ext cx="1600200" cy="109728"/>
          </a:xfrm>
          <a:prstGeom prst="rect">
            <a:avLst/>
          </a:prstGeom>
          <a:solidFill>
            <a:srgbClr val="F26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4152" y="29718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8465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3401568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4152" y="406908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Classes → percentage → eligibility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60" y="2743200"/>
            <a:ext cx="16002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38360" y="2743200"/>
            <a:ext cx="1600200" cy="109728"/>
          </a:xfrm>
          <a:prstGeom prst="rect">
            <a:avLst/>
          </a:prstGeom>
          <a:solidFill>
            <a:srgbClr val="FAC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02952" y="29718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8465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2952" y="3401568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Final Display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406908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Student details +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Scanner input → validation → calculations → conditional decisions → console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2057400"/>
            <a:ext cx="6629400" cy="38862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28346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2468879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Java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761487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Main programming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331720"/>
            <a:ext cx="28346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86784" y="2468879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6784" y="2761487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Console input from the 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383279"/>
            <a:ext cx="28346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3520439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Primitive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813048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int and double for numeric values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3383279"/>
            <a:ext cx="28346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6784" y="3520439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6784" y="3813048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Student name and department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28346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457200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Operators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4864607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Arithmetic, comparison and logical operators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4434840"/>
            <a:ext cx="28346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6784" y="457200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13740"/>
                </a:solidFill>
                <a:latin typeface="Aptos"/>
              </a:defRPr>
            </a:pPr>
            <a:r>
              <a:t>if–else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4864607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3740"/>
                </a:solidFill>
                <a:latin typeface="Aptos"/>
              </a:defRPr>
            </a:pPr>
            <a:r>
              <a:t>Validation, grade and attendance decisions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1965960"/>
            <a:ext cx="3886200" cy="3977639"/>
          </a:xfrm>
          <a:prstGeom prst="rect">
            <a:avLst/>
          </a:prstGeom>
          <a:solidFill>
            <a:srgbClr val="08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331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AC764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2880360"/>
            <a:ext cx="3154680" cy="594360"/>
          </a:xfrm>
          <a:prstGeom prst="rect">
            <a:avLst/>
          </a:prstGeom>
          <a:solidFill>
            <a:srgbClr val="05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3044952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Visual Studio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3749039"/>
            <a:ext cx="3154680" cy="594360"/>
          </a:xfrm>
          <a:prstGeom prst="rect">
            <a:avLst/>
          </a:prstGeom>
          <a:solidFill>
            <a:srgbClr val="05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913631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Java JDK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4617720"/>
            <a:ext cx="3154680" cy="594360"/>
          </a:xfrm>
          <a:prstGeom prst="rect">
            <a:avLst/>
          </a:prstGeom>
          <a:solidFill>
            <a:srgbClr val="05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4782312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544068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The project itself is implemented as Java source code; no database, file storage, collections, GUI or external API is used in the current version.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2057400"/>
            <a:ext cx="11201400" cy="3977639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49631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4144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Student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441448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Reads ID, name and department.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331720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249631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4144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Marks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441448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Accepts marks for three subjects.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27832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39242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3756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Marks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3756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Rejects values outside 0–100.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227832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339242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33756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Total &amp; average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33756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Calculates total marks and average.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123944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28853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33672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Grade calculation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23367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Assigns A+, A, B, C, D or Needs Improvement.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4123944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428853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233672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Attendance calculation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23367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Calculates attendance percentage.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020056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518464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129784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Eligibility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129784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Checks whether attendance is at least 75%.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020056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518464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129784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Console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129784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Displays student and result information.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011680"/>
            <a:ext cx="11430000" cy="416052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2331720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249631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244144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Student details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2441448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Reads ID, name and department.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2331720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249631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244144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Marks input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2441448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Accepts marks for three subjects.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" y="3227832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" y="339242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333756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Marks validation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08960" y="333756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Rejects values outside 0–100.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3227832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36792" y="339242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333756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Total &amp; average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33756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Calculates total marks and average.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" y="4123944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" y="428853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20" y="4233672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Grade calculation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423367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Assigns A+, A, B, C, D or Needs Improvement.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4123944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36792" y="428853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4233672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Attendance calculation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0" y="423367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Calculates attendance percentage.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" y="5020056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2" y="518464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88720" y="5129784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Eligibility check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08960" y="5129784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Checks whether attendance is at least 75%.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72200" y="5020056"/>
            <a:ext cx="5166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36792" y="518464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08465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5129784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13740"/>
                </a:solidFill>
                <a:latin typeface="Aptos"/>
              </a:defRPr>
            </a:pPr>
            <a:r>
              <a:t>Console output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95360" y="5129784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113740"/>
                </a:solidFill>
                <a:latin typeface="Aptos"/>
              </a:defRPr>
            </a:pPr>
            <a:r>
              <a:t>Displays student and result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2057400"/>
            <a:ext cx="7315200" cy="3749039"/>
          </a:xfrm>
          <a:prstGeom prst="rect">
            <a:avLst/>
          </a:prstGeom>
          <a:solidFill>
            <a:srgbClr val="05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AC764"/>
                </a:solidFill>
                <a:latin typeface="Aptos"/>
              </a:defRPr>
            </a:pPr>
            <a:r>
              <a:t>WHAT THE CURRENT PROJECT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630936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The current project is a simple Java console application that demonstrates core programming fundamentals.</a:t>
            </a:r>
            <a:br/>
            <a:br/>
            <a:r>
              <a:t>It collects student information, validates marks and attendance, calculates academic results, and displays the output.</a:t>
            </a:r>
            <a:br/>
            <a:br/>
            <a:r>
              <a:t>The project focuses only on the Java code developed for the current mini-project.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2331720"/>
            <a:ext cx="28803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2697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26A56"/>
                </a:solidFill>
                <a:latin typeface="Aptos"/>
              </a:defRPr>
            </a:pPr>
            <a:r>
              <a:t>FUTURE EXTENSIONS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154680"/>
            <a:ext cx="22402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13740"/>
                </a:solidFill>
                <a:latin typeface="Aptos"/>
              </a:defRPr>
            </a:pPr>
            <a:r>
              <a:t>• Methods for modular design</a:t>
            </a:r>
            <a:br/>
            <a:r>
              <a:t>• Classes and objects</a:t>
            </a:r>
            <a:br/>
            <a:r>
              <a:t>• File/database storage</a:t>
            </a:r>
            <a:br/>
            <a:r>
              <a:t>• GUI interface</a:t>
            </a:r>
            <a:br/>
            <a:r>
              <a:t>• Multiple student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4663440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13740"/>
                </a:solidFill>
                <a:latin typeface="Aptos"/>
              </a:defRPr>
            </a:pPr>
            <a:r>
              <a:t>These are future improvements, not features of the current Java 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2057400"/>
            <a:ext cx="3429000" cy="3429000"/>
          </a:xfrm>
          <a:prstGeom prst="rect">
            <a:avLst/>
          </a:prstGeom>
          <a:solidFill>
            <a:srgbClr val="05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2423160"/>
            <a:ext cx="28803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697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26A56"/>
                </a:solidFill>
                <a:latin typeface="Aptos"/>
              </a:defRPr>
            </a:pPr>
            <a:r>
              <a:t>FUTURE EXTENSIONS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154680"/>
            <a:ext cx="22402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13740"/>
                </a:solidFill>
                <a:latin typeface="Aptos"/>
              </a:defRPr>
            </a:pPr>
            <a:r>
              <a:t>• Methods for modular design</a:t>
            </a:r>
            <a:br/>
            <a:r>
              <a:t>• Classes and objects</a:t>
            </a:r>
            <a:br/>
            <a:r>
              <a:t>• File/database storage</a:t>
            </a:r>
            <a:br/>
            <a:r>
              <a:t>• GUI interface</a:t>
            </a:r>
            <a:br/>
            <a:r>
              <a:t>• Multiple student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663440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13740"/>
                </a:solidFill>
                <a:latin typeface="Aptos"/>
              </a:defRPr>
            </a:pPr>
            <a:r>
              <a:t>These are future improvements, not features of the current Java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